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 (억원)</c:v>
                </c:pt>
              </c:strCache>
            </c:strRef>
          </c:tx>
          <c:spPr>
            <a:solidFill>
              <a:srgbClr val="E9A6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E1116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216</c:v>
                </c:pt>
                <c:pt idx="1">
                  <c:v>254</c:v>
                </c:pt>
                <c:pt idx="2">
                  <c:v>298</c:v>
                </c:pt>
                <c:pt idx="3">
                  <c:v>362</c:v>
                </c:pt>
                <c:pt idx="4">
                  <c:v>428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E1116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영업이익률 (%)</c:v>
                </c:pt>
              </c:strCache>
            </c:strRef>
          </c:tx>
          <c:spPr>
            <a:solidFill>
              <a:srgbClr val="7C99B6"/>
            </a:solidFill>
            <a:ln w="28575" cap="flat">
              <a:solidFill>
                <a:srgbClr val="7C99B6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DF0F4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99B6"/>
              </a:solidFill>
              <a:ln w="9525" cap="flat">
                <a:solidFill>
                  <a:srgbClr val="7C99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4.1</c:v>
                </c:pt>
                <c:pt idx="1">
                  <c:v>4.8</c:v>
                </c:pt>
                <c:pt idx="2">
                  <c:v>5.6</c:v>
                </c:pt>
                <c:pt idx="3">
                  <c:v>6.9</c:v>
                </c:pt>
                <c:pt idx="4">
                  <c:v>7.4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EDF0F4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BA6B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0"/>
          <c:min val="0"/>
        </c:scaling>
        <c:delete val="0"/>
        <c:axPos val="l"/>
        <c:majorGridlines>
          <c:spPr>
            <a:ln w="9525" cap="flat">
              <a:solidFill>
                <a:srgbClr val="232B3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30"/>
      </c:valAx>
      <c:valAx>
        <c:axId val="2094734553"/>
        <c:scaling>
          <c:orientation val="minMax"/>
          <c:max val="8"/>
          <c:min val="0"/>
        </c:scaling>
        <c:delete val="0"/>
        <c:axPos val="r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84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  <c:majorUnit val="2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solidFill>
          <a:srgbClr val="0E1116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9BA6B4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0E111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제어반 출하 (면)</c:v>
                </c:pt>
              </c:strCache>
            </c:strRef>
          </c:tx>
          <c:spPr>
            <a:solidFill>
              <a:srgbClr val="E9A6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F0F4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1분기</c:v>
                  </c:pt>
                  <c:pt idx="1">
                    <c:v>2분기</c:v>
                  </c:pt>
                  <c:pt idx="2">
                    <c:v>3분기</c:v>
                  </c:pt>
                  <c:pt idx="3">
                    <c:v>4분기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742</c:v>
                </c:pt>
                <c:pt idx="1">
                  <c:v>838</c:v>
                </c:pt>
                <c:pt idx="2">
                  <c:v>861</c:v>
                </c:pt>
                <c:pt idx="3">
                  <c:v>969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DF0F4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8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BA6B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0"/>
          <c:min val="0"/>
        </c:scaling>
        <c:delete val="0"/>
        <c:axPos val="l"/>
        <c:majorGridlines>
          <c:spPr>
            <a:ln w="9525" cap="flat">
              <a:solidFill>
                <a:srgbClr val="232B3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75"/>
      </c:valAx>
      <c:spPr>
        <a:solidFill>
          <a:srgbClr val="0E1116"/>
        </a:solidFill>
        <a:ln>
          <a:noFill/>
        </a:ln>
        <a:effectLst/>
      </c:spPr>
    </c:plotArea>
    <c:plotVisOnly val="1"/>
    <c:dispBlanksAs val="span"/>
  </c:chart>
  <c:spPr>
    <a:solidFill>
      <a:srgbClr val="0E1116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월별 출하불량 (PPM)</c:v>
                </c:pt>
              </c:strCache>
            </c:strRef>
          </c:tx>
          <c:spPr>
            <a:solidFill>
              <a:srgbClr val="E9A63C"/>
            </a:solidFill>
            <a:ln w="28575" cap="flat">
              <a:solidFill>
                <a:srgbClr val="E9A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9A63C"/>
              </a:solidFill>
              <a:ln w="9525" cap="flat">
                <a:solidFill>
                  <a:srgbClr val="E9A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  <c:pt idx="9">
                    <c:v>10월</c:v>
                  </c:pt>
                  <c:pt idx="10">
                    <c:v>11월</c:v>
                  </c:pt>
                  <c:pt idx="11">
                    <c:v>12월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104</c:v>
                </c:pt>
                <c:pt idx="1">
                  <c:v>97</c:v>
                </c:pt>
                <c:pt idx="2">
                  <c:v>112</c:v>
                </c:pt>
                <c:pt idx="3">
                  <c:v>91</c:v>
                </c:pt>
                <c:pt idx="4">
                  <c:v>86</c:v>
                </c:pt>
                <c:pt idx="5">
                  <c:v>95</c:v>
                </c:pt>
                <c:pt idx="6">
                  <c:v>138</c:v>
                </c:pt>
                <c:pt idx="7">
                  <c:v>88</c:v>
                </c:pt>
                <c:pt idx="8">
                  <c:v>79</c:v>
                </c:pt>
                <c:pt idx="9">
                  <c:v>71</c:v>
                </c:pt>
                <c:pt idx="10">
                  <c:v>68</c:v>
                </c:pt>
                <c:pt idx="11">
                  <c:v>64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사내 목표선 100PPM</c:v>
                </c:pt>
              </c:strCache>
            </c:strRef>
          </c:tx>
          <c:spPr>
            <a:solidFill>
              <a:srgbClr val="4B5563"/>
            </a:solidFill>
            <a:ln w="28575" cap="flat">
              <a:solidFill>
                <a:srgbClr val="4B5563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4B5563"/>
              </a:solidFill>
              <a:ln w="9525" cap="flat">
                <a:solidFill>
                  <a:srgbClr val="4B556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  <c:pt idx="9">
                    <c:v>10월</c:v>
                  </c:pt>
                  <c:pt idx="10">
                    <c:v>11월</c:v>
                  </c:pt>
                  <c:pt idx="11">
                    <c:v>12월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BA6B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"/>
          <c:min val="0"/>
        </c:scaling>
        <c:delete val="0"/>
        <c:axPos val="l"/>
        <c:majorGridlines>
          <c:spPr>
            <a:ln w="9525" cap="flat">
              <a:solidFill>
                <a:srgbClr val="232B3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40"/>
      </c:valAx>
      <c:spPr>
        <a:solidFill>
          <a:srgbClr val="0E1116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BA6B4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0E111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 DIRECTION — 샘플 A (경영실적 보고)
1) 한 문장 컨셉: 야간 근무 중인 생산관제실 모니터처럼 — 숫자가 스스로 말하고 해설은 여백으로 물러난다.
2) 지배 요소: 데이터(수치). 타이포그래피와 여백은 조연으로만 쓴다.
3) 의도적 제약: 카드 컴포넌트 0개. 구획은 0.75pt 헤어라인과 여백으로만 만든다. 액센트(앰버 E9A63C)는 변화량과 경고에만 쓰고 제목·본문에는 쓰지 않는다.
4) 참조 장르: 공장 SCADA 관제 화면 + 연차보고서 뒤쪽의 재무 부속명세표 (웹사이트·PPT 템플릿 아님).
5) 감정 목표: 신뢰 — '이 회사는 통제되고 있다'는 확신.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978408"/>
            <a:ext cx="82296" cy="82296"/>
          </a:xfrm>
          <a:prstGeom prst="rect">
            <a:avLst/>
          </a:prstGeom>
          <a:solidFill>
            <a:srgbClr val="E9A63C"/>
          </a:solidFill>
          <a:ln w="12700">
            <a:solidFill>
              <a:srgbClr val="E9A6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6696" y="868680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제4기 정기 이사회 · 부의안건 제3호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572768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경영실적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777240" y="2615184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안산·박닌 이원 생산 4년 차 결산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77240" y="3346704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제어반 3,410면을 내보냈고 그중 89PPM이 되돌아왔다.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보고서는 그 차이가 어디서 생겼는지를 다룬다.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4828032"/>
            <a:ext cx="10637215" cy="0"/>
          </a:xfrm>
          <a:prstGeom prst="line">
            <a:avLst/>
          </a:prstGeom>
          <a:noFill/>
          <a:ln w="12700">
            <a:solidFill>
              <a:srgbClr val="3A43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0292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매출액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5303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428</a:t>
            </a:r>
            <a:pPr indent="0" marL="0">
              <a:buNone/>
            </a:pPr>
            <a:r>
              <a:rPr lang="en-US" sz="13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억원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77240" y="57790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A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+18.2% YoY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43936" y="5029200"/>
            <a:ext cx="0" cy="914400"/>
          </a:xfrm>
          <a:prstGeom prst="line">
            <a:avLst/>
          </a:prstGeom>
          <a:noFill/>
          <a:ln w="9525">
            <a:solidFill>
              <a:srgbClr val="232B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36544" y="50292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영업이익률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36544" y="5303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</a:t>
            </a:r>
            <a:pPr indent="0" marL="0">
              <a:buNone/>
            </a:pPr>
            <a:r>
              <a:rPr lang="en-US" sz="13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436544" y="57790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A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+0.5%p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03240" y="5029200"/>
            <a:ext cx="0" cy="914400"/>
          </a:xfrm>
          <a:prstGeom prst="line">
            <a:avLst/>
          </a:prstGeom>
          <a:noFill/>
          <a:ln w="9525">
            <a:solidFill>
              <a:srgbClr val="232B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95848" y="50292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출하불량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095848" y="5303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pPr indent="0" marL="0">
              <a:buNone/>
            </a:pPr>
            <a:r>
              <a:rPr lang="en-US" sz="13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PPM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095848" y="57790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A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 100 이내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62543" y="5029200"/>
            <a:ext cx="0" cy="914400"/>
          </a:xfrm>
          <a:prstGeom prst="line">
            <a:avLst/>
          </a:prstGeom>
          <a:noFill/>
          <a:ln w="9525">
            <a:solidFill>
              <a:srgbClr val="232B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55151" y="50292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 양산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755151" y="5303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pPr indent="0" marL="0">
              <a:buNone/>
            </a:pPr>
            <a:r>
              <a:rPr lang="en-US" sz="13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일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755151" y="57790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A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전년 대비 -4일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재무·경영기획팀  |  2026. 02. 12  |  대외비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76072"/>
            <a:ext cx="82296" cy="82296"/>
          </a:xfrm>
          <a:prstGeom prst="rect">
            <a:avLst/>
          </a:prstGeom>
          <a:solidFill>
            <a:srgbClr val="E9A63C"/>
          </a:solidFill>
          <a:ln w="12700">
            <a:solidFill>
              <a:srgbClr val="E9A6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78408" y="457200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490472" y="457200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 해 연속, 두 자릿수 성장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매출액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2121408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428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2761488" y="27249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억원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33467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A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+18.2%</a:t>
            </a:r>
            <a:pPr indent="0" marL="0">
              <a:buNone/>
            </a:pPr>
            <a:r>
              <a:rPr lang="en-US" sz="13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YoY  ·  사업계획 대비 103.1% 달성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0233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성장분의 절반은 2차전지 조립라인용 제어반 한 품목에서 나왔다. 2024년 4분기 박닌 SMT 2라인이 돌기 시작하면서 PCBA 외주 비중이 31%에서 9%로 내려갔고, 매출이 18% 늘어나는 동안 매출원가는 14%만 늘었다. 영업이익률 0.5%p 개선의 대부분이 여기서 설명된다.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55080" y="1874520"/>
            <a:ext cx="0" cy="3749040"/>
          </a:xfrm>
          <a:prstGeom prst="line">
            <a:avLst/>
          </a:prstGeom>
          <a:noFill/>
          <a:ln w="9525">
            <a:solidFill>
              <a:srgbClr val="232B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18745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영업이익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766560" y="21305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31.6</a:t>
            </a:r>
            <a:pPr indent="0" marL="0">
              <a:buNone/>
            </a:pPr>
            <a:r>
              <a:rPr lang="en-US" sz="13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억원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766560" y="266090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영업이익률 7.4% · 전년 26.4억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2953512"/>
            <a:ext cx="4647895" cy="0"/>
          </a:xfrm>
          <a:prstGeom prst="line">
            <a:avLst/>
          </a:prstGeom>
          <a:noFill/>
          <a:ln w="9525">
            <a:solidFill>
              <a:srgbClr val="232B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31729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제어반 출하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766560" y="34290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3,410</a:t>
            </a:r>
            <a:pPr indent="0" marL="0">
              <a:buNone/>
            </a:pPr>
            <a:r>
              <a:rPr lang="en-US" sz="13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면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766560" y="395935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평균 284면 · 가동률 88.7%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4251960"/>
            <a:ext cx="4647895" cy="0"/>
          </a:xfrm>
          <a:prstGeom prst="line">
            <a:avLst/>
          </a:prstGeom>
          <a:noFill/>
          <a:ln w="9525">
            <a:solidFill>
              <a:srgbClr val="232B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447141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출하불량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766560" y="47274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pPr indent="0" marL="0">
              <a:buNone/>
            </a:pPr>
            <a:r>
              <a:rPr lang="en-US" sz="13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PPM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766560" y="525780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클레임 14건 · 8D 회신 3.1일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774375" y="63550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(주)테크온 · 제4기 정기 이사회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76072"/>
            <a:ext cx="82296" cy="82296"/>
          </a:xfrm>
          <a:prstGeom prst="rect">
            <a:avLst/>
          </a:prstGeom>
          <a:solidFill>
            <a:srgbClr val="E9A63C"/>
          </a:solidFill>
          <a:ln w="12700">
            <a:solidFill>
              <a:srgbClr val="E9A6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78408" y="457200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490472" y="457200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매출 · 수익성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매출은 두 배, 이익률은 3.3%p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→ 2025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244144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매출 216억 → 428억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연평균 성장률 18.6%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3136392"/>
            <a:ext cx="2423160" cy="0"/>
          </a:xfrm>
          <a:prstGeom prst="line">
            <a:avLst/>
          </a:prstGeom>
          <a:noFill/>
          <a:ln w="9525">
            <a:solidFill>
              <a:srgbClr val="232B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4472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원가 구조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3739896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재료비 비중 61.8%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(2021년 66.4%)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4434840"/>
            <a:ext cx="2423160" cy="0"/>
          </a:xfrm>
          <a:prstGeom prst="line">
            <a:avLst/>
          </a:prstGeom>
          <a:noFill/>
          <a:ln w="9525">
            <a:solidFill>
              <a:srgbClr val="232B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74573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계획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77240" y="5038344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매출 500억 · 이익률 8.0%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안산 도장라인 내재화 반영</a:t>
            </a:r>
            <a:endParaRPr lang="en-US" sz="12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3566160" y="1874520"/>
          <a:ext cx="80010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10774375" y="63550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7724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(주)테크온 · 제4기 정기 이사회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76072"/>
            <a:ext cx="82296" cy="82296"/>
          </a:xfrm>
          <a:prstGeom prst="rect">
            <a:avLst/>
          </a:prstGeom>
          <a:solidFill>
            <a:srgbClr val="E9A63C"/>
          </a:solidFill>
          <a:ln w="12700">
            <a:solidFill>
              <a:srgbClr val="E9A6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78408" y="457200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490472" y="457200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생산 실적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4분기에 969면 — 분기 최대</a:t>
            </a:r>
            <a:endParaRPr lang="en-US" sz="3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67512" y="2011680"/>
          <a:ext cx="63550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903720" y="1965960"/>
            <a:ext cx="0" cy="3913632"/>
          </a:xfrm>
          <a:prstGeom prst="line">
            <a:avLst/>
          </a:prstGeom>
          <a:noFill/>
          <a:ln w="9525">
            <a:solidFill>
              <a:srgbClr val="232B3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69480" y="19659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생산능력 — 제어반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269480" y="218541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320</a:t>
            </a:r>
            <a:pPr indent="0" marL="0">
              <a:buNone/>
            </a:pPr>
            <a:r>
              <a:rPr lang="en-US" sz="12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면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269480" y="255117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 가동 284면 · 여유 11.3%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269480" y="2825496"/>
            <a:ext cx="4144975" cy="0"/>
          </a:xfrm>
          <a:prstGeom prst="line">
            <a:avLst/>
          </a:prstGeom>
          <a:noFill/>
          <a:ln w="9525">
            <a:solidFill>
              <a:srgbClr val="232B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69480" y="2990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생산능력 — PCBA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269480" y="32095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pPr indent="0" marL="0">
              <a:buNone/>
            </a:pPr>
            <a:r>
              <a:rPr lang="en-US" sz="12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만점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269480" y="357530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SMT 2라인 · 실 가동 36.8만점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269480" y="3849624"/>
            <a:ext cx="4144975" cy="0"/>
          </a:xfrm>
          <a:prstGeom prst="line">
            <a:avLst/>
          </a:prstGeom>
          <a:noFill/>
          <a:ln w="9525">
            <a:solidFill>
              <a:srgbClr val="232B3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69480" y="40142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 양산 리드타임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269480" y="42336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pPr indent="0" marL="0">
              <a:buNone/>
            </a:pPr>
            <a:r>
              <a:rPr lang="en-US" sz="12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일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269480" y="459943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39일 → 4일 단축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269480" y="4873752"/>
            <a:ext cx="4144975" cy="0"/>
          </a:xfrm>
          <a:prstGeom prst="line">
            <a:avLst/>
          </a:prstGeom>
          <a:noFill/>
          <a:ln w="9525">
            <a:solidFill>
              <a:srgbClr val="232B3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269480" y="503834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변경(ECO) 처리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269480" y="5257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</a:t>
            </a:r>
            <a:pPr indent="0" marL="0">
              <a:buNone/>
            </a:pPr>
            <a:r>
              <a:rPr lang="en-US" sz="12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일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7269480" y="562356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안산 설계실 상주 3인 체제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77240" y="553212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4분기 급증은 2차전지 고객사 2곳의 라인 증설 일정이 겹친 결과다. 상시 수요가 아니므로 2026년 분기 편차는 1분기 기준 ±12% 안에서 관리한다.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774375" y="63550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7724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(주)테크온 · 제4기 정기 이사회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76072"/>
            <a:ext cx="82296" cy="82296"/>
          </a:xfrm>
          <a:prstGeom prst="rect">
            <a:avLst/>
          </a:prstGeom>
          <a:solidFill>
            <a:srgbClr val="E9A63C"/>
          </a:solidFill>
          <a:ln w="12700">
            <a:solidFill>
              <a:srgbClr val="E9A6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78408" y="457200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490472" y="457200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7월 138PPM, 그 뒤 다섯 달은 목표선 아래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출하불량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223113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pPr indent="0" marL="0">
              <a:buNone/>
            </a:pPr>
            <a:r>
              <a:rPr lang="en-US" sz="12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PPM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26883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121PPM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90672" y="1965960"/>
            <a:ext cx="0" cy="868680"/>
          </a:xfrm>
          <a:prstGeom prst="line">
            <a:avLst/>
          </a:prstGeom>
          <a:noFill/>
          <a:ln w="9525">
            <a:solidFill>
              <a:srgbClr val="232B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9659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클레임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0" y="223113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pPr indent="0" marL="0">
              <a:buNone/>
            </a:pPr>
            <a:r>
              <a:rPr lang="en-US" sz="12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건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74720" y="26883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3,410면 중 0.41%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88152" y="1965960"/>
            <a:ext cx="0" cy="868680"/>
          </a:xfrm>
          <a:prstGeom prst="line">
            <a:avLst/>
          </a:prstGeom>
          <a:noFill/>
          <a:ln w="9525">
            <a:solidFill>
              <a:srgbClr val="232B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9659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초도품 승인률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172200" y="223113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96.3</a:t>
            </a:r>
            <a:pPr indent="0" marL="0">
              <a:buNone/>
            </a:pPr>
            <a:r>
              <a:rPr lang="en-US" sz="12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172200" y="268833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1회 승인 기준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732520" y="1965960"/>
            <a:ext cx="2679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7월 스파이크는 특정 로트의 단자대 압착 토크 이탈 한 건이다. 압착기 토크값을 작업지시서에서 분리해 설비 잠금값으로 옮긴 뒤 재발이 없다.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3200400"/>
            <a:ext cx="10637215" cy="0"/>
          </a:xfrm>
          <a:prstGeom prst="line">
            <a:avLst/>
          </a:prstGeom>
          <a:noFill/>
          <a:ln w="12700">
            <a:solidFill>
              <a:srgbClr val="3A434F"/>
            </a:solidFill>
            <a:prstDash val="solid"/>
          </a:ln>
        </p:spPr>
      </p:sp>
      <p:graphicFrame>
        <p:nvGraphicFramePr>
          <p:cNvPr id="19" name="Chart 0" descr=""/>
          <p:cNvGraphicFramePr/>
          <p:nvPr/>
        </p:nvGraphicFramePr>
        <p:xfrm>
          <a:off x="667512" y="3401568"/>
          <a:ext cx="10856671" cy="24871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10774375" y="63550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7724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(주)테크온 · 제4기 정기 이사회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76072"/>
            <a:ext cx="82296" cy="82296"/>
          </a:xfrm>
          <a:prstGeom prst="rect">
            <a:avLst/>
          </a:prstGeom>
          <a:solidFill>
            <a:srgbClr val="E9A63C"/>
          </a:solidFill>
          <a:ln w="12700">
            <a:solidFill>
              <a:srgbClr val="E9A6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78408" y="457200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490472" y="457200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거점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설계는 안산, 물량은 박닌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직행률이 안산 검사 부하를 줄인 만큼, 2026년에는 안산 검사 인원 3명을 시제품 라인으로 재배치한다.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46120" y="2103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안산 본사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46120" y="24505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경기 안산 · 2011년 설립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52360" y="2103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TECH-ON VINA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452360" y="24505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박닌 · 2021년 가동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779776"/>
            <a:ext cx="10637215" cy="0"/>
          </a:xfrm>
          <a:prstGeom prst="line">
            <a:avLst/>
          </a:prstGeom>
          <a:noFill/>
          <a:ln w="12700">
            <a:solidFill>
              <a:srgbClr val="3A43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9443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29443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· 시제품 · 최종검사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52360" y="29443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SMT · 하네스 · 양산조립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3328416"/>
            <a:ext cx="10637215" cy="0"/>
          </a:xfrm>
          <a:prstGeom prst="line">
            <a:avLst/>
          </a:prstGeom>
          <a:noFill/>
          <a:ln w="9525">
            <a:solidFill>
              <a:srgbClr val="232B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4747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46120" y="34747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68명 (설계 19 · 검사 11)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52360" y="34747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212명 (직접 178 · 간접 34)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7240" y="3858768"/>
            <a:ext cx="10637215" cy="0"/>
          </a:xfrm>
          <a:prstGeom prst="line">
            <a:avLst/>
          </a:prstGeom>
          <a:noFill/>
          <a:ln w="9525">
            <a:solidFill>
              <a:srgbClr val="232B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0050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생산 면적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46120" y="40050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2,970㎡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52360" y="40050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8,400㎡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" y="4389120"/>
            <a:ext cx="10637215" cy="0"/>
          </a:xfrm>
          <a:prstGeom prst="line">
            <a:avLst/>
          </a:prstGeom>
          <a:noFill/>
          <a:ln w="9525">
            <a:solidFill>
              <a:srgbClr val="232B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5354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설비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46120" y="453542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통전시험대 4 · 내전압시험기 3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배선검토 6석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52360" y="453542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SMT 2라인 · AOI 2 · X-ray 1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하네스 압착기 22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77240" y="5157216"/>
            <a:ext cx="10637215" cy="0"/>
          </a:xfrm>
          <a:prstGeom prst="line">
            <a:avLst/>
          </a:prstGeom>
          <a:noFill/>
          <a:ln w="9525">
            <a:solidFill>
              <a:srgbClr val="232B3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3035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산출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46120" y="53035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시제품 214건 · 최종검사 3,410면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52360" y="53035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PCBA 441만점 · 조립 2,780면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77240" y="5687568"/>
            <a:ext cx="10637215" cy="0"/>
          </a:xfrm>
          <a:prstGeom prst="line">
            <a:avLst/>
          </a:prstGeom>
          <a:noFill/>
          <a:ln w="9525">
            <a:solidFill>
              <a:srgbClr val="232B3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8338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직행률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46120" y="58338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452360" y="58338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97.4% (2024년 95.1%)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774375" y="63550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724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(주)테크온 · 제4기 정기 이사회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76072"/>
            <a:ext cx="82296" cy="82296"/>
          </a:xfrm>
          <a:prstGeom prst="rect">
            <a:avLst/>
          </a:prstGeom>
          <a:solidFill>
            <a:srgbClr val="E9A63C"/>
          </a:solidFill>
          <a:ln w="12700">
            <a:solidFill>
              <a:srgbClr val="E9A6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78408" y="457200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490472" y="457200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리스크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 가지 중 둘은 이미 계획에 반영했다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777240" y="2468880"/>
            <a:ext cx="82296" cy="82296"/>
          </a:xfrm>
          <a:prstGeom prst="rect">
            <a:avLst/>
          </a:prstGeom>
          <a:solidFill>
            <a:srgbClr val="E9A63C"/>
          </a:solidFill>
          <a:ln w="12700">
            <a:solidFill>
              <a:srgbClr val="E9A6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237744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상위 3사 매출 비중 51.4%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69848" y="27432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2차전지 고객 2곳이 38.2%. 한 곳의 증설 연기가 분기 매출 12%를 흔든다.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720840" y="23774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A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높음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0" y="2395728"/>
            <a:ext cx="3459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반도체 후공정 신규 2사 승인 진행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127248"/>
            <a:ext cx="10637215" cy="0"/>
          </a:xfrm>
          <a:prstGeom prst="line">
            <a:avLst/>
          </a:prstGeom>
          <a:noFill/>
          <a:ln w="9525">
            <a:solidFill>
              <a:srgbClr val="232B3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456432"/>
            <a:ext cx="82296" cy="82296"/>
          </a:xfrm>
          <a:prstGeom prst="rect">
            <a:avLst/>
          </a:prstGeom>
          <a:solidFill>
            <a:srgbClr val="E9A63C"/>
          </a:solidFill>
          <a:ln w="12700">
            <a:solidFill>
              <a:srgbClr val="E9A6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33649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인건비 연 9.2% 상승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69848" y="373075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직접인원 178명 기준 연 3.1억 증가. 자동압착 6대로 34명분 흡수.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720840" y="33649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A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55280" y="3383280"/>
            <a:ext cx="3459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설비 투자 4.2억 승인 요청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4114800"/>
            <a:ext cx="10637215" cy="0"/>
          </a:xfrm>
          <a:prstGeom prst="line">
            <a:avLst/>
          </a:prstGeom>
          <a:noFill/>
          <a:ln w="9525">
            <a:solidFill>
              <a:srgbClr val="232B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443984"/>
            <a:ext cx="82296" cy="82296"/>
          </a:xfrm>
          <a:prstGeom prst="rect">
            <a:avLst/>
          </a:prstGeom>
          <a:solidFill>
            <a:srgbClr val="46505C"/>
          </a:solidFill>
          <a:ln w="12700">
            <a:solidFill>
              <a:srgbClr val="4650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435254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차단기·커넥터 리드타임 22주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69848" y="471830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특정 유럽제 차단기 최대 22주. 운전자본 6.8억이 재고에 잠긴다.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720840" y="435254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보통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55280" y="4370832"/>
            <a:ext cx="3459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대체 승인 2종 진행 중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5102352"/>
            <a:ext cx="10637215" cy="0"/>
          </a:xfrm>
          <a:prstGeom prst="line">
            <a:avLst/>
          </a:prstGeom>
          <a:noFill/>
          <a:ln w="9525">
            <a:solidFill>
              <a:srgbClr val="232B3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5431536"/>
            <a:ext cx="82296" cy="82296"/>
          </a:xfrm>
          <a:prstGeom prst="rect">
            <a:avLst/>
          </a:prstGeom>
          <a:solidFill>
            <a:srgbClr val="46505C"/>
          </a:solidFill>
          <a:ln w="12700">
            <a:solidFill>
              <a:srgbClr val="4650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9848" y="534009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VND/KRW 환율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069848" y="570585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원가의 71%가 동화. ±5% 변동 시 연결 영업이익 ±1.4억.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720840" y="53400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보통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55280" y="5358384"/>
            <a:ext cx="3459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헤지 없음 · 검토 필요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774375" y="63550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(주)테크온 · 제4기 정기 이사회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76072"/>
            <a:ext cx="82296" cy="82296"/>
          </a:xfrm>
          <a:prstGeom prst="rect">
            <a:avLst/>
          </a:prstGeom>
          <a:solidFill>
            <a:srgbClr val="E9A63C"/>
          </a:solidFill>
          <a:ln w="12700">
            <a:solidFill>
              <a:srgbClr val="E9A6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78408" y="457200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490472" y="457200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계획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500억을 35일 안에 만드는 해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매출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226771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pPr indent="0" marL="0">
              <a:buNone/>
            </a:pPr>
            <a:r>
              <a:rPr lang="en-US" sz="12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억원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A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+16.8%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63240" y="2011680"/>
            <a:ext cx="0" cy="896112"/>
          </a:xfrm>
          <a:prstGeom prst="line">
            <a:avLst/>
          </a:prstGeom>
          <a:noFill/>
          <a:ln w="9525">
            <a:solidFill>
              <a:srgbClr val="232B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116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영업이익률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29000" y="226771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</a:t>
            </a:r>
            <a:pPr indent="0" marL="0">
              <a:buNone/>
            </a:pPr>
            <a:r>
              <a:rPr lang="en-US" sz="12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429000" y="27432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A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+0.6%p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15000" y="2011680"/>
            <a:ext cx="0" cy="896112"/>
          </a:xfrm>
          <a:prstGeom prst="line">
            <a:avLst/>
          </a:prstGeom>
          <a:noFill/>
          <a:ln w="9525">
            <a:solidFill>
              <a:srgbClr val="232B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20116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출하불량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080760" y="226771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pPr indent="0" marL="0">
              <a:buNone/>
            </a:pPr>
            <a:r>
              <a:rPr lang="en-US" sz="12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PPM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080760" y="27432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A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-19PPM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49640" y="2011680"/>
            <a:ext cx="2862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숫자보다 먼저 바꿀 것은 순서다. 지금은 도면이 확정된 뒤에 자재를 걸지만, 2026년에는 장납기 4품목을 도면 확정 전에 선발주한다.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3456432"/>
            <a:ext cx="10637215" cy="0"/>
          </a:xfrm>
          <a:prstGeom prst="line">
            <a:avLst/>
          </a:prstGeom>
          <a:noFill/>
          <a:ln w="12700">
            <a:solidFill>
              <a:srgbClr val="3A43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892040"/>
            <a:ext cx="10637215" cy="0"/>
          </a:xfrm>
          <a:prstGeom prst="line">
            <a:avLst/>
          </a:prstGeom>
          <a:noFill/>
          <a:ln w="12700">
            <a:solidFill>
              <a:srgbClr val="3A43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828032"/>
            <a:ext cx="64008" cy="137160"/>
          </a:xfrm>
          <a:prstGeom prst="rect">
            <a:avLst/>
          </a:prstGeom>
          <a:solidFill>
            <a:srgbClr val="E9A63C"/>
          </a:solidFill>
          <a:ln w="12700">
            <a:solidFill>
              <a:srgbClr val="E9A6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19709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1분기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7240" y="443484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장납기 4품목 선발주 체계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5093208"/>
            <a:ext cx="2542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차단기·커넥터·인버터·터미널블록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안전재고 8주분 확보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36544" y="4828032"/>
            <a:ext cx="64008" cy="137160"/>
          </a:xfrm>
          <a:prstGeom prst="rect">
            <a:avLst/>
          </a:prstGeom>
          <a:solidFill>
            <a:srgbClr val="6B7684"/>
          </a:solidFill>
          <a:ln w="12700">
            <a:solidFill>
              <a:srgbClr val="6B768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36544" y="419709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2분기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36544" y="443484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하네스 자동압착 6대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36544" y="5093208"/>
            <a:ext cx="2542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4.2억 · 34명분 공수 흡수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5월 시운전, 6월 양산 적용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95848" y="4828032"/>
            <a:ext cx="64008" cy="137160"/>
          </a:xfrm>
          <a:prstGeom prst="rect">
            <a:avLst/>
          </a:prstGeom>
          <a:solidFill>
            <a:srgbClr val="6B7684"/>
          </a:solidFill>
          <a:ln w="12700">
            <a:solidFill>
              <a:srgbClr val="6B768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95848" y="419709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3분기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095848" y="443484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안산 도장라인 내재화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095848" y="5093208"/>
            <a:ext cx="2542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외주 도장 연 5.9억 → 3.1억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리드타임 3일 단축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755151" y="4828032"/>
            <a:ext cx="64008" cy="137160"/>
          </a:xfrm>
          <a:prstGeom prst="rect">
            <a:avLst/>
          </a:prstGeom>
          <a:solidFill>
            <a:srgbClr val="6B7684"/>
          </a:solidFill>
          <a:ln w="12700">
            <a:solidFill>
              <a:srgbClr val="6B768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55151" y="419709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4분기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755151" y="443484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고객 2사 초도 양산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755151" y="5093208"/>
            <a:ext cx="2542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반도체 후공정 · 승인 심사 중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 매출 60억 목표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774375" y="63550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(주)테크온 · 제4기 정기 이사회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76072"/>
            <a:ext cx="82296" cy="82296"/>
          </a:xfrm>
          <a:prstGeom prst="rect">
            <a:avLst/>
          </a:prstGeom>
          <a:solidFill>
            <a:srgbClr val="E9A63C"/>
          </a:solidFill>
          <a:ln w="12700">
            <a:solidFill>
              <a:srgbClr val="E9A6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78408" y="457200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490472" y="457200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부의사항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이사회 의결을 요청드립니다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77240" y="22311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A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제1호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20240" y="219456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회계연도 재무제표 승인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223760" y="2194560"/>
            <a:ext cx="4190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매출 428.1억 · 영업이익 31.6억 · 당기순이익 24.9억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외부감사(한울회계법인) 적정의견 수령, 2026. 01. 30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3108960"/>
            <a:ext cx="10637215" cy="0"/>
          </a:xfrm>
          <a:prstGeom prst="line">
            <a:avLst/>
          </a:prstGeom>
          <a:noFill/>
          <a:ln w="9525">
            <a:solidFill>
              <a:srgbClr val="232B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4198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A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제2호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338328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하네스 자동압착 설비 투자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223760" y="3383280"/>
            <a:ext cx="4190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4.2억원 · 자기자금 100%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투자회수기간 2.7년, 34명분 직접공수 대체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4297680"/>
            <a:ext cx="10637215" cy="0"/>
          </a:xfrm>
          <a:prstGeom prst="line">
            <a:avLst/>
          </a:prstGeom>
          <a:noFill/>
          <a:ln w="9525">
            <a:solidFill>
              <a:srgbClr val="232B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6085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A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제3호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20240" y="457200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D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사업계획 및 자금수지 승인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223760" y="4572000"/>
            <a:ext cx="4190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매출 500억 · 설비투자 7.8억 · 차입 순증 0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9BA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분기 자금수지 최저점 3분기 12.4억 (한도 30억)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5623560"/>
            <a:ext cx="10637215" cy="0"/>
          </a:xfrm>
          <a:prstGeom prst="line">
            <a:avLst/>
          </a:prstGeom>
          <a:noFill/>
          <a:ln w="12700">
            <a:solidFill>
              <a:srgbClr val="3A43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8064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보고자  재무·경영기획팀장 정민호   |   배석  생산본부장, TECH-ON VINA 법인장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774375" y="63550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65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(주)테크온 · 제4기 정기 이사회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 경영실적 보고</dc:title>
  <dc:subject>PptxGenJS Presentation</dc:subject>
  <dc:creator>(주)테크온 재무·경영기획팀</dc:creator>
  <cp:lastModifiedBy>(주)테크온 재무·경영기획팀</cp:lastModifiedBy>
  <cp:revision>1</cp:revision>
  <dcterms:created xsi:type="dcterms:W3CDTF">2026-08-12T01:31:41Z</dcterms:created>
  <dcterms:modified xsi:type="dcterms:W3CDTF">2026-08-12T01:31:41Z</dcterms:modified>
</cp:coreProperties>
</file>