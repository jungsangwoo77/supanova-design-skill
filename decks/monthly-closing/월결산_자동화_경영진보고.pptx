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Malgun Gothic"/>
              </a:rPr>
              <a:t>주요 손익 항목 비교 (백만원)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당월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C6472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매출총이익</c:v>
                  </c:pt>
                  <c:pt idx="1">
                    <c:v>판매관리비</c:v>
                  </c:pt>
                  <c:pt idx="2">
                    <c:v>영업이익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1255</c:v>
                </c:pt>
                <c:pt idx="1">
                  <c:v>812</c:v>
                </c:pt>
                <c:pt idx="2">
                  <c:v>443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전월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C6472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매출총이익</c:v>
                  </c:pt>
                  <c:pt idx="1">
                    <c:v>판매관리비</c:v>
                  </c:pt>
                  <c:pt idx="2">
                    <c:v>영업이익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1185</c:v>
                </c:pt>
                <c:pt idx="1">
                  <c:v>798</c:v>
                </c:pt>
                <c:pt idx="2">
                  <c:v>387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C6472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4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8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472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당기순이익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△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62E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B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B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테크온
별도</c:v>
                  </c:pt>
                  <c:pt idx="1">
                    <c:v>VINA
별도</c:v>
                  </c:pt>
                  <c:pt idx="2">
                    <c:v>지분법이익
취소</c:v>
                  </c:pt>
                  <c:pt idx="3">
                    <c:v>미실현손익
제거</c:v>
                  </c:pt>
                  <c:pt idx="4">
                    <c:v>연결
순이익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415</c:v>
                </c:pt>
                <c:pt idx="1">
                  <c:v>117</c:v>
                </c:pt>
                <c:pt idx="2">
                  <c:v>-117</c:v>
                </c:pt>
                <c:pt idx="3">
                  <c:v>-28</c:v>
                </c:pt>
                <c:pt idx="4">
                  <c:v>387</c:v>
                </c:pt>
              </c:numCache>
            </c:numRef>
          </c:val>
        </c:ser>
        <c:dLbls>
          <c:numFmt formatCode="#,##0;△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262E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4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8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50" b="0" i="0" u="none" strike="noStrike">
                <a:solidFill>
                  <a:srgbClr val="1E2761"/>
                </a:solidFill>
                <a:latin typeface="Malgun Gothic"/>
              </a:rPr>
              <a:t>연결 매출액 (백만원)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연결 매출액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C6472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3월</c:v>
                  </c:pt>
                  <c:pt idx="1">
                    <c:v>4월</c:v>
                  </c:pt>
                  <c:pt idx="2">
                    <c:v>5월</c:v>
                  </c:pt>
                  <c:pt idx="3">
                    <c:v>6월</c:v>
                  </c:pt>
                  <c:pt idx="4">
                    <c:v>7월</c:v>
                  </c:pt>
                  <c:pt idx="5">
                    <c:v>8월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4980</c:v>
                </c:pt>
                <c:pt idx="1">
                  <c:v>5120</c:v>
                </c:pt>
                <c:pt idx="2">
                  <c:v>5340</c:v>
                </c:pt>
                <c:pt idx="3">
                  <c:v>5210</c:v>
                </c:pt>
                <c:pt idx="4">
                  <c:v>5455</c:v>
                </c:pt>
                <c:pt idx="5">
                  <c:v>5640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5C6472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4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8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50" b="0" i="0" u="none" strike="noStrike">
                <a:solidFill>
                  <a:srgbClr val="1E2761"/>
                </a:solidFill>
                <a:latin typeface="Malgun Gothic"/>
              </a:rPr>
              <a:t>연결 영업이익률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연결 영업이익률</c:v>
                </c:pt>
              </c:strCache>
            </c:strRef>
          </c:tx>
          <c:spPr>
            <a:solidFill>
              <a:srgbClr val="C08A2E"/>
            </a:solidFill>
            <a:ln w="38100" cap="flat">
              <a:solidFill>
                <a:srgbClr val="C08A2E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Malgun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8A2E"/>
              </a:solidFill>
              <a:ln w="9525" cap="flat">
                <a:solidFill>
                  <a:srgbClr val="C08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3월</c:v>
                  </c:pt>
                  <c:pt idx="1">
                    <c:v>4월</c:v>
                  </c:pt>
                  <c:pt idx="2">
                    <c:v>5월</c:v>
                  </c:pt>
                  <c:pt idx="3">
                    <c:v>6월</c:v>
                  </c:pt>
                  <c:pt idx="4">
                    <c:v>7월</c:v>
                  </c:pt>
                  <c:pt idx="5">
                    <c:v>8월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</c:v>
                </c:pt>
                <c:pt idx="1">
                  <c:v>8.6</c:v>
                </c:pt>
                <c:pt idx="2">
                  <c:v>9</c:v>
                </c:pt>
                <c:pt idx="3">
                  <c:v>8.4</c:v>
                </c:pt>
                <c:pt idx="4">
                  <c:v>9.6</c:v>
                </c:pt>
                <c:pt idx="5">
                  <c:v>10.3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Malgun Gothic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4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7"/>
        </c:scaling>
        <c:delete val="0"/>
        <c:axPos val="l"/>
        <c:majorGridlines>
          <c:spPr>
            <a:ln w="6350" cap="flat">
              <a:solidFill>
                <a:srgbClr val="D8DE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월결산 자동화 과제 결과와 8월 연결 경영실적을 함께 보고합니다. 수치는 샘플이며 실제 정산표 연동 시 치환됩니다.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장에서 결론을 먼저 제시합니다. 상세 근거는 이후 슬라이드에서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현행 프로세스의 병목은 데이터 이동과 연결조정 수기 작업 두 곳에 집중되어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05·06 단계가 이번 자동화의 핵심 신규 영역입니다. 01~04는 기존 수작업의 자동 대체입니다.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결산 자동화의 입력이 무엇인지 명확히 하는 슬라이드입니다. 위하고 메뉴 경로는 자료제출양식 v1.0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D+3 확정은 각사 원장 마감이 D+1에 완료된다는 전제 위에 성립합니다. 베트남 법인 마감 일정 협조가 전제 조건입니다.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 본사 별도 기준입니다. 지분법이익 117은 연결 단계에서 전액 취소되며 VINA 순이익으로 대체됩니다.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VAS 원장을 K-GAAP으로 전환한 후의 수치입니다. 전환 조정 항목은 마스터 규칙으로 관리되어 매월 동일하게 적용됩니다.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4단계는 K-GAAP 제5장 연결 기준에 따른 순서입니다. 지분율 100%이므로 비지배지분 계산은 발생하지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연결조정 열이 곧 연결정산표의 조정분개 합계이며, 시스템이 자동 생성한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경영진이 가장 궁금해하는 '왜 합산과 연결이 다른가'를 한 장으로 설명하는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추이 차트는 확정 데이터에서 자동 갱신되므로 매월 재작성이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정량 효과는 인건비 절감보다 결산 조기화에 따른 의사결정 리드타임 확보에 방점이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요청사항은 D+3 결산 정착의 필수 전제입니다. 승인 여부를 이 자리에서 확정해 주시기 바랍니다.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4937760" cy="4937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95528" y="1874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 결산 · 경영진 보고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95528" y="22860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월결산 자동화 및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경영실적 보고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4114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테크온(한국 본사) · TECH-ON VINA(베트남 100% 자회사) 각사 손익 및 K-GAAP 연결손익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" y="4709160"/>
            <a:ext cx="1005840" cy="27432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경영지원본부 재무팀   |   보고일 2026. 09. 04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계정 체계는 「더존위하고(iCUBE) 자료제출양식 v1.0」을 따릅니다. 수치는 구조 확인용 샘플이며, 위하고 출력 데이터 연동 시 자동 치환됩니다. (단위: 백만원)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— 결산 5일 단축, 연결손익 자동 산출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6002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258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결산 완료 시점 (기존 D+8)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16002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5,640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2258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매출액 (전월 +3.4%)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99048" y="16002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10.3%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099048" y="2258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영업이익률 (전월 9.6%)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796528" y="16002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△85%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796528" y="2258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분개 감소 (420→65건)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14553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10896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각사 손익 확정까지 D+2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4015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더존, 베트남 MISA 원장을 자동 수집·검증하여 각사 별도 손익을 D+2에 확정합니다. VAS→K-GAAP 전환과 환산은 규칙 기반으로 자동 처리됩니다.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16966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1330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 4단계 자동 생성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442569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지분법이익 취소 → 투자·자본 상계 → 채권채무 상계 → 수익·비용 상계를 시스템이 생성하고 차대균형을 자동 검증합니다.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5193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51572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보고서까지 원클릭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44982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연결손익계산서·각사 비교·추이 차트가 확정 데이터에서 바로 생성되어, 재무팀은 수치 작성이 아닌 원인 분석에 집중합니다.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계정 체계는 「더존위하고(iCUBE) 자료제출양식 v1.0」을 따릅니다. 수치는 구조 확인용 샘플이며, 위하고 출력 데이터 연동 시 자동 치환됩니다. (단위: 백만원)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월결산 — 사람이 옮기고, 사람이 맞추고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수집 수작업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856232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한국·베트남 원장을 각각 내려받아 엑셀에 붙여넣기 (월 평균 4시간)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48716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4688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매핑 불일치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75234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VAS 계정코드(TT200)와 K-GAAP 계정 매핑이 담당자 기억에 의존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3649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환산 기준 혼용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6484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 월평균환율 / 자산·부채 기말환율 적용이 시트마다 상이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27939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2611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 수기 분개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54456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내부거래·미실현손익 제거를 매월 수기 작성, 차대 불일치 빈발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17550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175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1572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재작성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544068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후 경영진 보고자료를 다시 수기로 작성 (월 6시간)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0" y="1572768"/>
            <a:ext cx="4005072" cy="4224528"/>
          </a:xfrm>
          <a:prstGeom prst="roundRect">
            <a:avLst>
              <a:gd name="adj" fmla="val 1370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1783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결산 부담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2679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결산 확정 시점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420건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수작업 분개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16시간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7818120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연결정산표 작성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4846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12건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7818120" y="5285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평균 오류 재작업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2026년 1~7월 결산 실적 집계 (샘플)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구조 — 원장에서 연결손익까지 6단계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755648" cy="2286000"/>
          </a:xfrm>
          <a:prstGeom prst="roundRect">
            <a:avLst>
              <a:gd name="adj" fmla="val 312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87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자동 수집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위하고 iCUBE 10종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MISA(베트남)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27148" y="2788920"/>
            <a:ext cx="109728" cy="146304"/>
          </a:xfrm>
          <a:prstGeom prst="rightArrow">
            <a:avLst/>
          </a:prstGeom>
          <a:solidFill>
            <a:srgbClr val="C08A2E"/>
          </a:solidFill>
          <a:ln/>
        </p:spPr>
      </p:sp>
      <p:sp>
        <p:nvSpPr>
          <p:cNvPr id="10" name="Shape 8"/>
          <p:cNvSpPr/>
          <p:nvPr/>
        </p:nvSpPr>
        <p:spPr>
          <a:xfrm>
            <a:off x="2441448" y="1737360"/>
            <a:ext cx="1755648" cy="2286000"/>
          </a:xfrm>
          <a:prstGeom prst="roundRect">
            <a:avLst>
              <a:gd name="adj" fmla="val 312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2487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매핑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29718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VAS TT200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K-GAAP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1668" y="2788920"/>
            <a:ext cx="109728" cy="146304"/>
          </a:xfrm>
          <a:prstGeom prst="rightArrow">
            <a:avLst/>
          </a:prstGeom>
          <a:solidFill>
            <a:srgbClr val="C08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315968" y="1737360"/>
            <a:ext cx="1755648" cy="2286000"/>
          </a:xfrm>
          <a:prstGeom prst="roundRect">
            <a:avLst>
              <a:gd name="adj" fmla="val 312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8348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487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외화 환산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9718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 월평균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 기말환율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76188" y="2788920"/>
            <a:ext cx="109728" cy="146304"/>
          </a:xfrm>
          <a:prstGeom prst="rightArrow">
            <a:avLst/>
          </a:prstGeom>
          <a:solidFill>
            <a:srgbClr val="C08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90488" y="1737360"/>
            <a:ext cx="1755648" cy="2286000"/>
          </a:xfrm>
          <a:prstGeom prst="roundRect">
            <a:avLst>
              <a:gd name="adj" fmla="val 312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2487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검증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9718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차대균형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계정잔액 대사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0708" y="2788920"/>
            <a:ext cx="109728" cy="146304"/>
          </a:xfrm>
          <a:prstGeom prst="rightArrow">
            <a:avLst/>
          </a:prstGeom>
          <a:solidFill>
            <a:srgbClr val="C08A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5008" y="1737360"/>
            <a:ext cx="1755648" cy="228600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1938528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3252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2487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 생성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29718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분개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생성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825228" y="2788920"/>
            <a:ext cx="109728" cy="146304"/>
          </a:xfrm>
          <a:prstGeom prst="rightArrow">
            <a:avLst/>
          </a:prstGeom>
          <a:solidFill>
            <a:srgbClr val="C08A2E"/>
          </a:solidFill>
          <a:ln/>
        </p:spPr>
      </p:sp>
      <p:sp>
        <p:nvSpPr>
          <p:cNvPr id="34" name="Shape 32"/>
          <p:cNvSpPr/>
          <p:nvPr/>
        </p:nvSpPr>
        <p:spPr>
          <a:xfrm>
            <a:off x="9939528" y="1737360"/>
            <a:ext cx="1755648" cy="228600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07040" y="1938528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6070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2487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출력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012680" y="297180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P&amp;L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자료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" y="4279392"/>
            <a:ext cx="1102766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5528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95528" y="473659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소스 원칙 — 모든 보고 수치는 확정 원장 1개에서만 파생되며, 중간 엑셀 수정은 허용하지 않습니다.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규칙의 외부화 — 계정 매핑표·환율·연결 대상 지분율은 마스터 테이블에서 관리하여 담당자 변경에 영향받지 않습니다.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우선 — 차대균형·전월 잔액 연속성·내부거래 대사 3종 검증을 통과해야 다음 단계로 넘어갑니다.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SOURCE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— 더존위하고(iCUBE) 10종 표준자료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2766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626864"/>
                <a:gridCol w="2286000"/>
              </a:tblGrid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위하고 메뉴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산출물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재무상태표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B/S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회계관리 &gt; 결산/재무제표 &gt; 재무상태표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재무상태표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손익계산서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P&amp;L (월 누계)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회계관리 &gt; 결산/재무제표 &gt; 손익계산서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각사·연결 손익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현금흐름표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C/F (간접법)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회계관리 &gt; 결산/재무제표 &gt; 현금흐름표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현금흐름표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합계잔액시산표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T/B (계정코드)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회계관리 &gt; 장부조회 &gt; 합계잔액시산표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차대균형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매출채권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거래처별 잔액·연령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채권채무관리 &gt; 채권현황 &gt; 거래처별잔액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채권채무 상계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매입채무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거래처별 잔액·연령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채권채무관리 &gt; 채무현황 &gt; 거래처별잔액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채권채무 상계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차입금현황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Debt Schedule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자금관리 &gt; 차입금관리 &gt; 차입금현황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금융비용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고정자산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감가상각 명세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고정자산관리 &gt; 자산현황 &gt; 자산명세서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상각비·EBITDA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⑨ 세금계산서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매출·매입 합계표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세무관리 &gt; 부가가치세 &gt; 세금계산서합계표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내부거래 대사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⑩ 급여대장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인원별 급여 (암호화)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급여관리 &gt; 급여대장 &gt; 급여명세서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인건비 배부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029200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5138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수집 대상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53949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①~⑨는 위하고에서 Excel로 내보낸 뒤 값 붙여넣기하던 작업을 배치 수집으로 대체합니다. ⑩ 급여대장은 개인정보 자료이므로 암호화 채널로 별도 처리합니다.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99632" y="5029200"/>
            <a:ext cx="5394960" cy="1133856"/>
          </a:xfrm>
          <a:prstGeom prst="roundRect">
            <a:avLst>
              <a:gd name="adj" fmla="val 4839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5138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베트남 법인 대응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53949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VINA는 위하고를 쓰지 않으므로 MISA 원장을 동일한 10종 양식에 맞춰 정규화한 뒤, VAS(TT200) 계정을 K-GAAP 계정코드로 매핑합니다.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더존위하고(iCUBE) 자료제출양식 v1.0 — 시트 구성 및 메뉴 경로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 CALENDAR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월결산 캘린더 — D+8에서 D+3으로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01368" y="1536192"/>
            <a:ext cx="2377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11096" y="1609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D+1~3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11096" y="1865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마감·수집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536192"/>
            <a:ext cx="2377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8264" y="1609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D+4~5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98264" y="1865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각사 손익 확정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75704" y="1536192"/>
            <a:ext cx="2377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1609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D+6~7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1865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 수기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62872" y="1536192"/>
            <a:ext cx="23774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72600" y="160934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186537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작성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01368" y="2871216"/>
            <a:ext cx="3200400" cy="1115568"/>
          </a:xfrm>
          <a:prstGeom prst="roundRect">
            <a:avLst>
              <a:gd name="adj" fmla="val 4918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47672" y="29809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947672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자동 수집·매핑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947672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시스템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38928" y="2871216"/>
            <a:ext cx="3200400" cy="1115568"/>
          </a:xfrm>
          <a:prstGeom prst="roundRect">
            <a:avLst>
              <a:gd name="adj" fmla="val 4918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85232" y="29809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각사 손익 확정·검증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285232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각사 재무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76488" y="2871216"/>
            <a:ext cx="3200400" cy="1115568"/>
          </a:xfrm>
          <a:prstGeom prst="roundRect">
            <a:avLst>
              <a:gd name="adj" fmla="val 4918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22792" y="29809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622792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연결조정·보고서 출력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622792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본사 재무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315968"/>
            <a:ext cx="11027664" cy="1417320"/>
          </a:xfrm>
          <a:prstGeom prst="roundRect">
            <a:avLst>
              <a:gd name="adj" fmla="val 3871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단축의 근거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수집·매핑 3일 → 1일: 원장 다운로드와 계정 재분류가 배치로 처리되어 담당자 대기시간이 사라집니다.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 2일 → 0.5일: 내부거래 대사표가 각사 확정과 동시에 생성되어 차이 조회부터 시작합니다.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1일 → 즉시: 확정 데이터가 곧 보고 양식이므로 별도 작성 단계가 없습니다.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STANDALONE · KOREA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테크온(한국 본사) 별도 손익계산서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6858000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1847088"/>
                <a:gridCol w="1097280"/>
                <a:gridCol w="1097280"/>
                <a:gridCol w="1097280"/>
                <a:gridCol w="1097280"/>
              </a:tblGrid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증감률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4,655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+165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제품매출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3,910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3,780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상품매출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서비스매출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매출원가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3,565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3,470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+95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+2.7%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매출총이익 (26.0%)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1,255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1,185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+5.9%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판매비와관리비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+1.8%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인건비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감가상각비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 (9.2%)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+14.5%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7000~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영업외손익 (지분법 117)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+10.8%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법인세비용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+14.6%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당기순이익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+13.7%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607808" y="1517904"/>
          <a:ext cx="3986784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607808" y="4005072"/>
            <a:ext cx="3986784" cy="1737360"/>
          </a:xfrm>
          <a:prstGeom prst="roundRect">
            <a:avLst>
              <a:gd name="adj" fmla="val 3158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818120" y="4133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 요인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7818120" y="440740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제품군 출하 증가로 매출 +165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원자재 단가 안정으로 원가율 △0.5%p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판관비는 전월 수준 유지 (증가율 매출 하회)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지분법이익 117은 연결 시 전액 취소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계정 체계는 「더존위하고(iCUBE) 자료제출양식 v1.0」을 따릅니다. 수치는 구조 확인용 샘플이며, 위하고 출력 데이터 연동 시 자동 치환됩니다. (단위: 백만원)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STANDALONE · VIETNAM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TECH-ON VINA 별도 손익계산서 (K-GAAP 전환 후)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6858000" cy="914400"/>
        </p:xfrm>
        <a:graphic>
          <a:graphicData uri="http://schemas.openxmlformats.org/drawingml/2006/table">
            <a:tbl>
              <a:tblPr/>
              <a:tblGrid>
                <a:gridCol w="621792"/>
                <a:gridCol w="1847088"/>
                <a:gridCol w="1097280"/>
                <a:gridCol w="1097280"/>
                <a:gridCol w="1097280"/>
                <a:gridCol w="1097280"/>
              </a:tblGrid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계정과목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증감률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1,940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1,880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제품매출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1,486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1,442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+3.1%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4030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서비스매출(가공용역)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+3.7%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매출원가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1,562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1,528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매출총이익 (19.5%)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+7.4%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판매비와관리비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+2.4%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인건비 (주재원 포함)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 (8.5%)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+14.7%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7000~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영업외손익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△15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법인세비용 (CIT 20%)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+11.5%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당기순이익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+12.5%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07808" y="1517904"/>
            <a:ext cx="3986784" cy="2487168"/>
          </a:xfrm>
          <a:prstGeom prst="roundRect">
            <a:avLst>
              <a:gd name="adj" fmla="val 2206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VAS → K-GAAP 전환 조정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048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TK627 제조경비 재분류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561320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432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주재원 급여·PIT → 판관비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561320" y="2432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△12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감가상각 내용연수 차이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561320" y="28163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퇴직급여충당 인식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56132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18120" y="3602736"/>
            <a:ext cx="3566160" cy="13716"/>
          </a:xfrm>
          <a:prstGeom prst="rect">
            <a:avLst/>
          </a:prstGeom>
          <a:solidFill>
            <a:srgbClr val="3B4A8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1812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순이익 영향 합계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0561320" y="3657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△14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07808" y="4151376"/>
            <a:ext cx="3986784" cy="1591056"/>
          </a:xfrm>
          <a:prstGeom prst="roundRect">
            <a:avLst>
              <a:gd name="adj" fmla="val 3448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18120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환산 기준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455371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손익: 당월 평균환율 0.0538 KRW/VND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자산·부채: 기말환율 0.0541 KRW/VND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자본: 발생시점 환율 (해외사업환산차 자본 계상)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VAS 기준: Thông tư 200/2014/TT-BTC | 계정 체계: 더존위하고(iCUBE) 자료제출양식 v1.0 | 수치는 샘플 (단위: 백만원)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CONSOLIDATION ADJUSTMENT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연결조정분개 — 4단계 자동 생성 및 검증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28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지분법이익 취소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029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테크온 별도에 계상된 지분법이익을 전액 제거합니다.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345168" y="1847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△117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2596896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85292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743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투자·자본 상계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0540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종속기업투자주식과 VINA 자본을 상계합니다 (지분율 100%, 비지배지분 없음).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45168" y="28712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재무상태표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" y="3621024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38770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채권·채무 상계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40782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본사-VINA 간 매출채권/매입채무를 상계합니다.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321808" y="3785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345168" y="3895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△340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66928" y="4645152"/>
            <a:ext cx="11027664" cy="932688"/>
          </a:xfrm>
          <a:prstGeom prst="roundRect">
            <a:avLst>
              <a:gd name="adj" fmla="val 5882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49011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8096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7914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수익·비용 상계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5102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내부거래 매출·매입을 동액 상계하고, 재고 미실현손익을 제거합니다.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321808" y="48097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345168" y="49194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△1,120 / +28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66928" y="5687568"/>
            <a:ext cx="11027664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5528" y="5797296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검증 통과   ·   차대균형 0   ·   내부거래 대사 차이 0   ·   전월 잔액 연속성 일치   ·   검증 완료 2026-09-03 18:12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CONSOLIDATED P&amp;L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연결손익계산서 — 각사 합산에서 연결까지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17904"/>
          <a:ext cx="11027664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1755648"/>
                <a:gridCol w="1755648"/>
                <a:gridCol w="1755648"/>
                <a:gridCol w="1755648"/>
                <a:gridCol w="1755648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테크온(한국)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TECH-ON VINA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단순합산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1,940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6,760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△1,120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5,640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매출원가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3,565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1,562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5,127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△1,092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4,035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매출총이익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1,255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1,633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△28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1,605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매출총이익률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판매관리비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1,026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1,026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영업이익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△28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영업이익률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E7D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영업외손익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△117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△53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법인세비용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당기순이익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△145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226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193792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5285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매출총이익률이 각사보다 높은 이유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55595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내부거래 1,120이 매출·매출원가에서 동액 제거되면서, 마진이 없는 거래가 분모에서 빠져 연결 마진율이 상승합니다.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99632" y="5193792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52852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순이익이 단순합산보다 145 적은 이유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55595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지분법이익 117이 이중계상이라 취소되고, 재고에 남은 미실현이익 28이 제거되었습니다 (117 + 28 = 145).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계정 체계는 「더존위하고(iCUBE) 자료제출양식 v1.0」을 따릅니다. 수치는 구조 확인용 샘플이며, 위하고 출력 데이터 연동 시 자동 치환됩니다. (단위: 백만원)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당기순이익 브릿지 — 별도에서 연결까지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22192" cy="192024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73568" y="171907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당기순이익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73568" y="1993392"/>
            <a:ext cx="34198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387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7973568" y="28529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백만원   |   전월 대비 +38 (+10.9%)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3602736"/>
            <a:ext cx="3822192" cy="2020824"/>
          </a:xfrm>
          <a:prstGeom prst="roundRect">
            <a:avLst>
              <a:gd name="adj" fmla="val 271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73568" y="373075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973568" y="4005072"/>
            <a:ext cx="3419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두 막대는 각사가 벌어들인 실제 이익입니다.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두 막대는 회계상 중복·미실현분을 덜어낸 것으로, 현금 유출이 아닙니다.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미실현손익 28은 해당 재고가 외부에 판매되는 시점에 연결이익으로 환입됩니다.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계정 체계는 「더존위하고(iCUBE) 자료제출양식 v1.0」을 따릅니다. 수치는 구조 확인용 샘플이며, 위하고 출력 데이터 연동 시 자동 치환됩니다. (단위: 백만원)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실적 추이 — 최근 6개월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572768"/>
          <a:ext cx="5330952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66928" y="4846320"/>
            <a:ext cx="3547872" cy="1188720"/>
          </a:xfrm>
          <a:prstGeom prst="roundRect">
            <a:avLst>
              <a:gd name="adj" fmla="val 461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9808" y="4974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연속 개선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749808" y="52669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일시 조정 이후 매출·마진이 함께 상승 추세로 복귀했습니다.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306824" y="4846320"/>
            <a:ext cx="3547872" cy="1188720"/>
          </a:xfrm>
          <a:prstGeom prst="roundRect">
            <a:avLst>
              <a:gd name="adj" fmla="val 461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89704" y="4974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VINA 기여 확대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489704" y="52669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베트남 법인 영업이익률이 7.6%→8.5%로 개선되며 연결 마진을 밀어올렸습니다.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4846320"/>
            <a:ext cx="3547872" cy="1188720"/>
          </a:xfrm>
          <a:prstGeom prst="roundRect">
            <a:avLst>
              <a:gd name="adj" fmla="val 4615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0" y="4974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내부거래 비중 안정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52669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매출 대비 내부거래 비중은 19.9%로 전월(20.3%)과 유사한 수준입니다.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계정 체계는 「더존위하고(iCUBE) 자료제출양식 v1.0」을 따릅니다. 수치는 구조 확인용 샘플이며, 위하고 출력 데이터 연동 시 자동 치환됩니다. (단위: 백만원)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도입 효과 — 정확도와 속도를 동시에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결산 확정 시점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6654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D+8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3230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D+3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31520" y="31272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8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127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 단축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4136" y="1572768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38728" y="17190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분개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206654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420건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43230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65건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538728" y="31272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8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38728" y="3127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△85%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1344" y="1572768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45936" y="17190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연결정산표 작성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06654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16시간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243230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1.5시간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345936" y="31272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8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45936" y="3127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△91%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88552" y="1572768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53144" y="171907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재작업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153144" y="206654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trike="sngStrike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12건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153144" y="2432304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9153144" y="312724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08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53144" y="31272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△83%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4059936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EDF2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효과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4480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재무팀 결산 투입시간 월 62시간 → 21시간 (△41시간)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환산 약 492시간, 인건비 기준 약 34백만원 상당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6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결산 조기화로 경영 의사결정 리드타임 5일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99632" y="4059936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효과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4480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 근거가 시스템에 기록되어 감사 대응력이 향상됩니다.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변경·부재 시에도 동일한 결산 품질이 유지됩니다.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재무팀 역할이 수치 작성에서 차이 분석으로 이동합니다.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276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수치는 2026년 1~7월 실적 대비 자동화 파일럿 기준 추정치입니다 (샘플).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 및 경영진 요청사항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547872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170078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95681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2026.10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0428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각사 손익 자동화 안정화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871216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수집·계정 매핑·환산 자동화 정착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 병행 운영으로 수기 결과와 대사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536192"/>
            <a:ext cx="3547872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07992" y="170078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195681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2026.12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30428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연결조정·보고서 자동화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871216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연결조정 4단계 자동 생성 전면 적용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보고서 원클릭 출력 전환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36192"/>
            <a:ext cx="3547872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47888" y="170078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195681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304288"/>
            <a:ext cx="3145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예측·분석 확장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871216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마감 데이터 기반 분기 전망 자동 산출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사업부·제품군별 수익성 분석 확대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160520"/>
            <a:ext cx="11027664" cy="1783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4315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경영진 요청사항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" y="4700016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4681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베트남 법인 원장 마감 D+1 고정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96128" y="47000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VINA 회계팀 마감 일정을 D+1로 확정해 주시기 바랍니다. D+3 결산의 전제 조건입니다.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5358384"/>
            <a:ext cx="420624" cy="42062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5358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26464" y="5340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매핑·환율 마스터 승인권 지정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596128" y="53583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매핑표 변경 승인자를 재무팀장으로 지정하여 임의 변경을 차단하고자 합니다.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경영지원본부 재무팀   |   문의 swjung770908@gmail.com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월결산 자동화 및 연결 경영실적 보고</dc:title>
  <dc:subject>PptxGenJS Presentation</dc:subject>
  <dc:creator>경영지원본부</dc:creator>
  <cp:lastModifiedBy>경영지원본부</cp:lastModifiedBy>
  <cp:revision>1</cp:revision>
  <dcterms:created xsi:type="dcterms:W3CDTF">2026-08-31T09:47:43Z</dcterms:created>
  <dcterms:modified xsi:type="dcterms:W3CDTF">2026-08-31T09:47:43Z</dcterms:modified>
</cp:coreProperties>
</file>